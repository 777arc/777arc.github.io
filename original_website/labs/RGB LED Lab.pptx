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19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1D50F-4587-4313-ACD3-9560CA693A7A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8561E-3406-439C-ADB1-C1BE0FD5B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50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61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2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4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05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94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695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447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19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21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47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98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D2500-6FD8-46B3-BF65-6B475658484F}" type="datetimeFigureOut">
              <a:rPr lang="en-US" smtClean="0"/>
              <a:t>2/22/2011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BB50B-04AE-4682-8261-6B756C78F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7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3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264" y="-1161263"/>
            <a:ext cx="9162263" cy="91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1470025"/>
          </a:xfrm>
        </p:spPr>
        <p:txBody>
          <a:bodyPr/>
          <a:lstStyle/>
          <a:p>
            <a:r>
              <a:rPr lang="en-US" dirty="0" smtClean="0"/>
              <a:t>RGB LED Lab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0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Marc Lichtman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71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RGB LED?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837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LED with three separate LEDs inside of it</a:t>
            </a:r>
          </a:p>
          <a:p>
            <a:r>
              <a:rPr lang="en-US" sz="2000" dirty="0" smtClean="0"/>
              <a:t>Red, green, blue</a:t>
            </a:r>
          </a:p>
          <a:p>
            <a:r>
              <a:rPr lang="en-US" sz="2000" dirty="0" smtClean="0"/>
              <a:t>You can make any color</a:t>
            </a:r>
          </a:p>
          <a:p>
            <a:r>
              <a:rPr lang="en-US" sz="2000" dirty="0" smtClean="0"/>
              <a:t>Use PWM to change the brightness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</a:t>
            </a:r>
          </a:p>
          <a:p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438400"/>
            <a:ext cx="28575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962400"/>
            <a:ext cx="2362200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767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PWM?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Pulse Width Modulation</a:t>
            </a:r>
          </a:p>
          <a:p>
            <a:r>
              <a:rPr lang="en-US" sz="2000" dirty="0" smtClean="0"/>
              <a:t>Generates square wave</a:t>
            </a:r>
          </a:p>
          <a:p>
            <a:r>
              <a:rPr lang="en-US" sz="2000" dirty="0" smtClean="0"/>
              <a:t>Frequency = 500 Hz for Arduino</a:t>
            </a:r>
          </a:p>
          <a:p>
            <a:r>
              <a:rPr lang="en-US" sz="2000" dirty="0" smtClean="0"/>
              <a:t>500 Hz = period of 2 milliseconds</a:t>
            </a:r>
          </a:p>
          <a:p>
            <a:r>
              <a:rPr lang="en-US" sz="2000" dirty="0" smtClean="0"/>
              <a:t>We feed an LED with a PWM signal to make it dim</a:t>
            </a:r>
          </a:p>
          <a:p>
            <a:r>
              <a:rPr lang="en-US" sz="2000" dirty="0" smtClean="0"/>
              <a:t>Duty cycle is what we call the percent of on time (ex: 25% duty cycle)</a:t>
            </a:r>
          </a:p>
          <a:p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506" y="3735060"/>
            <a:ext cx="5098694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6799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analogWrite</a:t>
            </a:r>
            <a:r>
              <a:rPr lang="en-US" b="1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analogWrite</a:t>
            </a:r>
            <a:r>
              <a:rPr lang="en-US" sz="2000" dirty="0" smtClean="0"/>
              <a:t>(pin</a:t>
            </a:r>
            <a:r>
              <a:rPr lang="en-US" sz="2000" dirty="0"/>
              <a:t>, value</a:t>
            </a:r>
            <a:r>
              <a:rPr lang="en-US" sz="2000" dirty="0" smtClean="0"/>
              <a:t>);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>
                <a:solidFill>
                  <a:srgbClr val="FF0000"/>
                </a:solidFill>
              </a:rPr>
              <a:t>//pin- </a:t>
            </a:r>
            <a:r>
              <a:rPr lang="en-US" sz="2000" dirty="0">
                <a:solidFill>
                  <a:srgbClr val="FF0000"/>
                </a:solidFill>
              </a:rPr>
              <a:t>the pin to write </a:t>
            </a:r>
            <a:r>
              <a:rPr lang="en-US" sz="2000" dirty="0" smtClean="0">
                <a:solidFill>
                  <a:srgbClr val="FF0000"/>
                </a:solidFill>
              </a:rPr>
              <a:t>to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</a:rPr>
              <a:t>	//value- </a:t>
            </a:r>
            <a:r>
              <a:rPr lang="en-US" sz="2000" dirty="0">
                <a:solidFill>
                  <a:srgbClr val="FF0000"/>
                </a:solidFill>
              </a:rPr>
              <a:t>the duty cycle: between 0 (always off) and 255 (always on</a:t>
            </a:r>
            <a:r>
              <a:rPr lang="en-US" sz="2000" dirty="0" smtClean="0">
                <a:solidFill>
                  <a:srgbClr val="FF0000"/>
                </a:solidFill>
              </a:rPr>
              <a:t>)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506" y="3735060"/>
            <a:ext cx="5098694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4318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Current Limiting Resistors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LEDs will draw a huge amount of current if you let them</a:t>
            </a:r>
          </a:p>
          <a:p>
            <a:r>
              <a:rPr lang="en-US" sz="2000" dirty="0" smtClean="0"/>
              <a:t>V=IR does not work with LEDs</a:t>
            </a:r>
          </a:p>
          <a:p>
            <a:r>
              <a:rPr lang="en-US" sz="2000" dirty="0" smtClean="0"/>
              <a:t>A resistor in series of the LED will allow you to use V=IR</a:t>
            </a:r>
          </a:p>
          <a:p>
            <a:r>
              <a:rPr lang="en-US" sz="2000" dirty="0" smtClean="0"/>
              <a:t>If we use a 1k ohm resistor</a:t>
            </a:r>
          </a:p>
          <a:p>
            <a:r>
              <a:rPr lang="en-US" sz="2000" dirty="0" smtClean="0"/>
              <a:t>V = IR    </a:t>
            </a:r>
            <a:r>
              <a:rPr lang="en-US" sz="2000" dirty="0" smtClean="0">
                <a:sym typeface="Wingdings" pitchFamily="2" charset="2"/>
              </a:rPr>
              <a:t>    5 = I*1000        I = 5 milliamps</a:t>
            </a:r>
          </a:p>
          <a:p>
            <a:r>
              <a:rPr lang="en-US" sz="2000" dirty="0" smtClean="0">
                <a:sym typeface="Wingdings" pitchFamily="2" charset="2"/>
              </a:rPr>
              <a:t>5 milliamps is a good amount of current for an LED </a:t>
            </a:r>
            <a:endParaRPr lang="en-US" sz="2000" dirty="0">
              <a:sym typeface="Wingdings" pitchFamily="2" charset="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962400"/>
            <a:ext cx="2819400" cy="2592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8190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400"/>
            <a:ext cx="8229600" cy="1143000"/>
          </a:xfrm>
        </p:spPr>
        <p:txBody>
          <a:bodyPr/>
          <a:lstStyle/>
          <a:p>
            <a:r>
              <a:rPr lang="en-US" dirty="0" smtClean="0"/>
              <a:t>Schematic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0" t="4775" r="19426" b="6870"/>
          <a:stretch/>
        </p:blipFill>
        <p:spPr bwMode="auto">
          <a:xfrm rot="10800000">
            <a:off x="533401" y="1447800"/>
            <a:ext cx="2111824" cy="4739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Straight Connector 16"/>
          <p:cNvCxnSpPr/>
          <p:nvPr/>
        </p:nvCxnSpPr>
        <p:spPr>
          <a:xfrm>
            <a:off x="3913752" y="4122357"/>
            <a:ext cx="484752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657601" y="3665157"/>
            <a:ext cx="740903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124201" y="3893757"/>
            <a:ext cx="12743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4398504" y="3038644"/>
            <a:ext cx="1718593" cy="1610197"/>
            <a:chOff x="5410200" y="3570774"/>
            <a:chExt cx="1718593" cy="1610197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3570774"/>
              <a:ext cx="1718593" cy="16101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6" name="TextBox 25"/>
            <p:cNvSpPr txBox="1"/>
            <p:nvPr/>
          </p:nvSpPr>
          <p:spPr>
            <a:xfrm>
              <a:off x="5715000" y="3977960"/>
              <a:ext cx="1066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 smtClean="0"/>
                <a:t>LED</a:t>
              </a:r>
              <a:endParaRPr lang="en-US" sz="3200" dirty="0"/>
            </a:p>
          </p:txBody>
        </p:sp>
      </p:grpSp>
      <p:pic>
        <p:nvPicPr>
          <p:cNvPr id="32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2214605"/>
            <a:ext cx="990600" cy="231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2445957"/>
            <a:ext cx="990600" cy="231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1" y="2748005"/>
            <a:ext cx="990600" cy="231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8" name="Straight Connector 37"/>
          <p:cNvCxnSpPr/>
          <p:nvPr/>
        </p:nvCxnSpPr>
        <p:spPr>
          <a:xfrm flipH="1">
            <a:off x="3502682" y="3436557"/>
            <a:ext cx="916919" cy="25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124201" y="3893757"/>
            <a:ext cx="0" cy="10668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2514601" y="4960557"/>
            <a:ext cx="6096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34" idx="3"/>
          </p:cNvCxnSpPr>
          <p:nvPr/>
        </p:nvCxnSpPr>
        <p:spPr>
          <a:xfrm>
            <a:off x="3505201" y="2863681"/>
            <a:ext cx="0" cy="57287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33" idx="3"/>
          </p:cNvCxnSpPr>
          <p:nvPr/>
        </p:nvCxnSpPr>
        <p:spPr>
          <a:xfrm>
            <a:off x="3505201" y="2561633"/>
            <a:ext cx="152400" cy="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505201" y="2325873"/>
            <a:ext cx="41107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3657601" y="2561633"/>
            <a:ext cx="0" cy="1103524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3913752" y="2325873"/>
            <a:ext cx="2519" cy="179648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383240" y="4579557"/>
            <a:ext cx="1545775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Longest Pin</a:t>
            </a:r>
            <a:endParaRPr lang="en-US" dirty="0">
              <a:solidFill>
                <a:srgbClr val="0070C0"/>
              </a:solidFill>
            </a:endParaRPr>
          </a:p>
        </p:txBody>
      </p:sp>
      <p:cxnSp>
        <p:nvCxnSpPr>
          <p:cNvPr id="58" name="Straight Arrow Connector 57"/>
          <p:cNvCxnSpPr/>
          <p:nvPr/>
        </p:nvCxnSpPr>
        <p:spPr>
          <a:xfrm flipH="1" flipV="1">
            <a:off x="3657601" y="3969957"/>
            <a:ext cx="53135" cy="67951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2514600" y="1524000"/>
            <a:ext cx="1018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1k </a:t>
            </a:r>
            <a:r>
              <a:rPr lang="el-GR" dirty="0" smtClean="0"/>
              <a:t>Ω</a:t>
            </a:r>
            <a:endParaRPr lang="en-US" dirty="0" smtClean="0"/>
          </a:p>
          <a:p>
            <a:pPr algn="ctr"/>
            <a:r>
              <a:rPr lang="en-US" dirty="0" smtClean="0"/>
              <a:t>Resistors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3782449" y="5334000"/>
            <a:ext cx="53615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---Steps---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Connect Longest LED pin to GND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Connect other three to resistors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Connect other side of resistors to pins D11, D10, D9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Test your code to figure out which pin is which color</a:t>
            </a:r>
            <a:endParaRPr lang="en-US" dirty="0"/>
          </a:p>
        </p:txBody>
      </p:sp>
      <p:pic>
        <p:nvPicPr>
          <p:cNvPr id="6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914400"/>
            <a:ext cx="3810000" cy="2180808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54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4459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981200"/>
            <a:ext cx="2819400" cy="1143000"/>
          </a:xfrm>
        </p:spPr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971800"/>
            <a:ext cx="8458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u="sng" dirty="0" smtClean="0">
                <a:solidFill>
                  <a:srgbClr val="FF0000"/>
                </a:solidFill>
              </a:rPr>
              <a:t>GLOBAL VARIABLES- PUT BEFORE setup()</a:t>
            </a:r>
          </a:p>
          <a:p>
            <a:pPr marL="0" indent="0">
              <a:buNone/>
            </a:pPr>
            <a:r>
              <a:rPr lang="en-US" sz="1600" dirty="0" err="1" smtClean="0"/>
              <a:t>int</a:t>
            </a:r>
            <a:r>
              <a:rPr lang="en-US" sz="1600" dirty="0" smtClean="0"/>
              <a:t> </a:t>
            </a:r>
            <a:r>
              <a:rPr lang="en-US" sz="1600" dirty="0"/>
              <a:t>red = </a:t>
            </a:r>
            <a:r>
              <a:rPr lang="en-US" sz="1600" dirty="0" smtClean="0"/>
              <a:t>11;   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int</a:t>
            </a:r>
            <a:r>
              <a:rPr lang="en-US" sz="1600" dirty="0"/>
              <a:t> green = </a:t>
            </a:r>
            <a:r>
              <a:rPr lang="en-US" sz="1600" dirty="0" smtClean="0"/>
              <a:t>10;      </a:t>
            </a: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int</a:t>
            </a:r>
            <a:r>
              <a:rPr lang="en-US" sz="1600" dirty="0"/>
              <a:t> blue = 9;   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u="sng" dirty="0" smtClean="0">
                <a:solidFill>
                  <a:srgbClr val="FF0000"/>
                </a:solidFill>
              </a:rPr>
              <a:t>PUT INSIDE OF setup()</a:t>
            </a:r>
            <a:endParaRPr lang="en-US" sz="1600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dirty="0" err="1" smtClean="0"/>
              <a:t>pinMode</a:t>
            </a:r>
            <a:r>
              <a:rPr lang="en-US" sz="1600" dirty="0" smtClean="0"/>
              <a:t>(red</a:t>
            </a:r>
            <a:r>
              <a:rPr lang="en-US" sz="1600" dirty="0"/>
              <a:t>, OUTPUT);   </a:t>
            </a:r>
            <a:r>
              <a:rPr lang="en-US" sz="1600" dirty="0" smtClean="0"/>
              <a:t>        // </a:t>
            </a:r>
            <a:r>
              <a:rPr lang="en-US" sz="1600" dirty="0"/>
              <a:t>sets the pin as output</a:t>
            </a:r>
          </a:p>
          <a:p>
            <a:pPr marL="0" indent="0">
              <a:buNone/>
            </a:pPr>
            <a:r>
              <a:rPr lang="en-US" sz="1600" dirty="0" err="1" smtClean="0"/>
              <a:t>pinMode</a:t>
            </a:r>
            <a:r>
              <a:rPr lang="en-US" sz="1600" dirty="0" smtClean="0"/>
              <a:t>(green</a:t>
            </a:r>
            <a:r>
              <a:rPr lang="en-US" sz="1600" dirty="0"/>
              <a:t>, OUTPUT); </a:t>
            </a:r>
            <a:r>
              <a:rPr lang="en-US" sz="1600" dirty="0" smtClean="0"/>
              <a:t>  </a:t>
            </a:r>
          </a:p>
          <a:p>
            <a:pPr marL="0" indent="0">
              <a:buNone/>
            </a:pPr>
            <a:r>
              <a:rPr lang="en-US" sz="1600" dirty="0" err="1" smtClean="0"/>
              <a:t>pinMode</a:t>
            </a:r>
            <a:r>
              <a:rPr lang="en-US" sz="1600" dirty="0" smtClean="0"/>
              <a:t>(blue, OUTPUT);   </a:t>
            </a:r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u="sng" dirty="0" smtClean="0">
                <a:solidFill>
                  <a:srgbClr val="FF0000"/>
                </a:solidFill>
              </a:rPr>
              <a:t>PUT INSIDE OF loop()</a:t>
            </a:r>
          </a:p>
          <a:p>
            <a:pPr marL="0" indent="0">
              <a:buNone/>
            </a:pPr>
            <a:r>
              <a:rPr lang="en-US" sz="1600" dirty="0" err="1" smtClean="0"/>
              <a:t>analogWrite</a:t>
            </a:r>
            <a:r>
              <a:rPr lang="en-US" sz="1600" dirty="0" smtClean="0"/>
              <a:t>(green</a:t>
            </a:r>
            <a:r>
              <a:rPr lang="en-US" sz="1600" dirty="0"/>
              <a:t>, </a:t>
            </a:r>
            <a:r>
              <a:rPr lang="en-US" sz="1600" dirty="0" smtClean="0"/>
              <a:t>113);      //sets green LED to a level of 113 (we can use anywhere from 0 – 255)</a:t>
            </a: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delay(10);</a:t>
            </a:r>
            <a:endParaRPr lang="en-US" sz="16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517" b="-95593"/>
          <a:stretch/>
        </p:blipFill>
        <p:spPr bwMode="auto">
          <a:xfrm>
            <a:off x="5257800" y="1447800"/>
            <a:ext cx="3596696" cy="440511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263" y="718394"/>
            <a:ext cx="2115337" cy="1210799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540000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6200"/>
            <a:ext cx="2644775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5928304" y="76200"/>
            <a:ext cx="344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For Advanced Students</a:t>
            </a:r>
            <a:endParaRPr lang="en-US" u="sng" dirty="0"/>
          </a:p>
        </p:txBody>
      </p:sp>
      <p:sp>
        <p:nvSpPr>
          <p:cNvPr id="1032" name="TextBox 1031"/>
          <p:cNvSpPr txBox="1"/>
          <p:nvPr/>
        </p:nvSpPr>
        <p:spPr>
          <a:xfrm>
            <a:off x="5410200" y="457200"/>
            <a:ext cx="3276600" cy="1561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Challenges: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Make the colors fade in and out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smtClean="0"/>
              <a:t>Control color with your laptop</a:t>
            </a:r>
          </a:p>
          <a:p>
            <a:pPr algn="ctr"/>
            <a:endParaRPr lang="en-US" sz="1050" dirty="0"/>
          </a:p>
          <a:p>
            <a:pPr algn="ctr"/>
            <a:r>
              <a:rPr lang="en-US" sz="1050" dirty="0" smtClean="0"/>
              <a:t>If you need help use</a:t>
            </a:r>
          </a:p>
          <a:p>
            <a:pPr algn="ctr"/>
            <a:r>
              <a:rPr lang="en-US" sz="1050" dirty="0" smtClean="0"/>
              <a:t>http</a:t>
            </a:r>
            <a:r>
              <a:rPr lang="en-US" sz="1050" dirty="0"/>
              <a:t>://arduino.cc/en/Reference</a:t>
            </a:r>
            <a:endParaRPr lang="en-US" sz="1050" dirty="0" smtClean="0"/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1033" name="Rectangle 1032"/>
          <p:cNvSpPr/>
          <p:nvPr/>
        </p:nvSpPr>
        <p:spPr>
          <a:xfrm>
            <a:off x="5181600" y="76200"/>
            <a:ext cx="3810000" cy="3810000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706" y="4139080"/>
            <a:ext cx="3193694" cy="1956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34" name="TextBox 1033"/>
          <p:cNvSpPr txBox="1"/>
          <p:nvPr/>
        </p:nvSpPr>
        <p:spPr>
          <a:xfrm>
            <a:off x="990600" y="1524000"/>
            <a:ext cx="1447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GND</a:t>
            </a:r>
            <a:endParaRPr lang="en-US" sz="1000" dirty="0"/>
          </a:p>
        </p:txBody>
      </p:sp>
      <p:sp>
        <p:nvSpPr>
          <p:cNvPr id="1035" name="TextBox 1034"/>
          <p:cNvSpPr txBox="1"/>
          <p:nvPr/>
        </p:nvSpPr>
        <p:spPr>
          <a:xfrm>
            <a:off x="1066800" y="152400"/>
            <a:ext cx="990600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 smtClean="0"/>
              <a:t>D9 D10 D11</a:t>
            </a:r>
            <a:endParaRPr lang="en-US" sz="1100" dirty="0"/>
          </a:p>
        </p:txBody>
      </p:sp>
      <p:pic>
        <p:nvPicPr>
          <p:cNvPr id="47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14010"/>
            <a:ext cx="622195" cy="622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283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308</Words>
  <Application>Microsoft Office PowerPoint</Application>
  <PresentationFormat>On-screen Show (4:3)</PresentationFormat>
  <Paragraphs>60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RGB LED Lab</vt:lpstr>
      <vt:lpstr>What is an RGB LED?</vt:lpstr>
      <vt:lpstr>What is PWM?</vt:lpstr>
      <vt:lpstr>analogWrite()</vt:lpstr>
      <vt:lpstr>Current Limiting Resistors</vt:lpstr>
      <vt:lpstr>Schematic</vt:lpstr>
      <vt:lpstr>Code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</dc:creator>
  <cp:lastModifiedBy>Marc</cp:lastModifiedBy>
  <cp:revision>12</cp:revision>
  <dcterms:created xsi:type="dcterms:W3CDTF">2011-02-20T03:03:25Z</dcterms:created>
  <dcterms:modified xsi:type="dcterms:W3CDTF">2011-02-22T05:41:30Z</dcterms:modified>
</cp:coreProperties>
</file>