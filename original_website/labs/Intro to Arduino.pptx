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60" r:id="rId5"/>
    <p:sldId id="261" r:id="rId6"/>
    <p:sldId id="259" r:id="rId7"/>
    <p:sldId id="258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6" d="100"/>
          <a:sy n="126" d="100"/>
        </p:scale>
        <p:origin x="-119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2/14/2011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339975"/>
            <a:ext cx="7772400" cy="1470025"/>
          </a:xfrm>
        </p:spPr>
        <p:txBody>
          <a:bodyPr/>
          <a:lstStyle/>
          <a:p>
            <a:r>
              <a:rPr lang="en-US" dirty="0" smtClean="0"/>
              <a:t>Intro to Arduino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429000"/>
            <a:ext cx="6400800" cy="1752600"/>
          </a:xfrm>
        </p:spPr>
        <p:txBody>
          <a:bodyPr/>
          <a:lstStyle/>
          <a:p>
            <a:r>
              <a:rPr lang="en-US" dirty="0" smtClean="0"/>
              <a:t>Marc Lichtman</a:t>
            </a:r>
            <a:endParaRPr 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368598" cy="220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7471" y="2438400"/>
            <a:ext cx="2540000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945" y="4495800"/>
            <a:ext cx="2633053" cy="2405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041" y="4527507"/>
            <a:ext cx="3070041" cy="24066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438400"/>
            <a:ext cx="2196496" cy="1932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8598" y="4724400"/>
            <a:ext cx="2540000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9758" y="-28529"/>
            <a:ext cx="3444241" cy="2314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0466" y="304800"/>
            <a:ext cx="2188334" cy="16412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52619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374" b="10982"/>
          <a:stretch/>
        </p:blipFill>
        <p:spPr bwMode="auto">
          <a:xfrm>
            <a:off x="5309720" y="4031577"/>
            <a:ext cx="2996080" cy="2978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a Microcontroller?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525963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Single integrated circuit (chip)</a:t>
            </a:r>
          </a:p>
          <a:p>
            <a:pPr lvl="1"/>
            <a:r>
              <a:rPr lang="en-US" dirty="0" smtClean="0"/>
              <a:t>Processor</a:t>
            </a:r>
          </a:p>
          <a:p>
            <a:pPr lvl="1"/>
            <a:r>
              <a:rPr lang="en-US" dirty="0" smtClean="0"/>
              <a:t>Memory</a:t>
            </a:r>
          </a:p>
          <a:p>
            <a:pPr lvl="1"/>
            <a:r>
              <a:rPr lang="en-US" dirty="0" smtClean="0"/>
              <a:t>Peripherals</a:t>
            </a:r>
          </a:p>
          <a:p>
            <a:r>
              <a:rPr lang="en-US" dirty="0" smtClean="0"/>
              <a:t>Used in automatically controlled devices</a:t>
            </a:r>
          </a:p>
          <a:p>
            <a:pPr lvl="1"/>
            <a:r>
              <a:rPr lang="en-US" dirty="0" smtClean="0"/>
              <a:t>Appliances</a:t>
            </a:r>
          </a:p>
          <a:p>
            <a:pPr lvl="1"/>
            <a:r>
              <a:rPr lang="en-US" dirty="0" smtClean="0"/>
              <a:t>Remote controls</a:t>
            </a:r>
          </a:p>
          <a:p>
            <a:pPr lvl="1"/>
            <a:r>
              <a:rPr lang="en-US" dirty="0" smtClean="0"/>
              <a:t>Power tools</a:t>
            </a:r>
          </a:p>
          <a:p>
            <a:pPr lvl="1"/>
            <a:r>
              <a:rPr lang="en-US" dirty="0" smtClean="0"/>
              <a:t>Toys</a:t>
            </a:r>
          </a:p>
          <a:p>
            <a:r>
              <a:rPr lang="en-US" dirty="0" smtClean="0"/>
              <a:t>Very inexpensive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1524000"/>
            <a:ext cx="1676400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94525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1554" y="76200"/>
            <a:ext cx="3368246" cy="1143000"/>
          </a:xfrm>
        </p:spPr>
        <p:txBody>
          <a:bodyPr/>
          <a:lstStyle/>
          <a:p>
            <a:r>
              <a:rPr lang="en-US" dirty="0" smtClean="0"/>
              <a:t>Software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0" y="2514600"/>
            <a:ext cx="8229600" cy="2544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 dirty="0" smtClean="0"/>
              <a:t>Arduino </a:t>
            </a:r>
            <a:r>
              <a:rPr lang="en-US" sz="4400" dirty="0">
                <a:sym typeface="Wingdings" pitchFamily="2" charset="2"/>
              </a:rPr>
              <a:t> </a:t>
            </a:r>
            <a:r>
              <a:rPr lang="en-US" sz="4400" dirty="0" smtClean="0"/>
              <a:t>C++ </a:t>
            </a:r>
            <a:r>
              <a:rPr lang="en-US" sz="4400" dirty="0">
                <a:sym typeface="Wingdings" pitchFamily="2" charset="2"/>
              </a:rPr>
              <a:t> </a:t>
            </a:r>
            <a:r>
              <a:rPr lang="en-US" sz="4400" dirty="0" smtClean="0"/>
              <a:t>Assembly</a:t>
            </a:r>
          </a:p>
          <a:p>
            <a:endParaRPr lang="en-US" sz="4400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733800"/>
            <a:ext cx="8475123" cy="291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68314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48000" y="130314"/>
            <a:ext cx="2667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u="sng" dirty="0" smtClean="0"/>
              <a:t>Assembly</a:t>
            </a:r>
            <a:endParaRPr lang="en-US" sz="4000" u="sng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4144" y="1219200"/>
            <a:ext cx="5264856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80350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228600"/>
            <a:ext cx="7037231" cy="632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81000" y="240957"/>
            <a:ext cx="1600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u="sng" dirty="0" smtClean="0"/>
              <a:t>C++</a:t>
            </a:r>
            <a:endParaRPr lang="en-US" sz="4000" u="sng" dirty="0"/>
          </a:p>
        </p:txBody>
      </p:sp>
    </p:spTree>
    <p:extLst>
      <p:ext uri="{BB962C8B-B14F-4D97-AF65-F5344CB8AC3E}">
        <p14:creationId xmlns:p14="http://schemas.microsoft.com/office/powerpoint/2010/main" val="956171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4800" y="1214021"/>
            <a:ext cx="87630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int</a:t>
            </a:r>
            <a:r>
              <a:rPr lang="en-US" sz="2400" dirty="0"/>
              <a:t> </a:t>
            </a:r>
            <a:r>
              <a:rPr lang="en-US" sz="2400" dirty="0" err="1"/>
              <a:t>ledPin</a:t>
            </a:r>
            <a:r>
              <a:rPr lang="en-US" sz="2400" dirty="0"/>
              <a:t> = 13;                 // LED connected to digital pin 13</a:t>
            </a:r>
          </a:p>
          <a:p>
            <a:endParaRPr lang="en-US" sz="2400" dirty="0"/>
          </a:p>
          <a:p>
            <a:r>
              <a:rPr lang="en-US" sz="2400" dirty="0"/>
              <a:t>void setup()</a:t>
            </a:r>
          </a:p>
          <a:p>
            <a:r>
              <a:rPr lang="en-US" sz="2400" dirty="0"/>
              <a:t>{</a:t>
            </a:r>
          </a:p>
          <a:p>
            <a:r>
              <a:rPr lang="en-US" sz="2400" dirty="0"/>
              <a:t>  </a:t>
            </a:r>
            <a:r>
              <a:rPr lang="en-US" sz="2400" dirty="0" err="1"/>
              <a:t>pinMode</a:t>
            </a:r>
            <a:r>
              <a:rPr lang="en-US" sz="2400" dirty="0"/>
              <a:t>(</a:t>
            </a:r>
            <a:r>
              <a:rPr lang="en-US" sz="2400" dirty="0" err="1"/>
              <a:t>ledPin</a:t>
            </a:r>
            <a:r>
              <a:rPr lang="en-US" sz="2400" dirty="0"/>
              <a:t>, OUTPUT);      // sets the digital pin as output</a:t>
            </a:r>
          </a:p>
          <a:p>
            <a:r>
              <a:rPr lang="en-US" sz="2400" dirty="0"/>
              <a:t>}</a:t>
            </a:r>
          </a:p>
          <a:p>
            <a:endParaRPr lang="en-US" sz="2400" dirty="0"/>
          </a:p>
          <a:p>
            <a:r>
              <a:rPr lang="en-US" sz="2400" dirty="0"/>
              <a:t>void loop()</a:t>
            </a:r>
          </a:p>
          <a:p>
            <a:r>
              <a:rPr lang="en-US" sz="2400" dirty="0"/>
              <a:t>{</a:t>
            </a:r>
          </a:p>
          <a:p>
            <a:r>
              <a:rPr lang="en-US" sz="2400" dirty="0"/>
              <a:t>  </a:t>
            </a:r>
            <a:r>
              <a:rPr lang="en-US" sz="2400" dirty="0" err="1"/>
              <a:t>digitalWrite</a:t>
            </a:r>
            <a:r>
              <a:rPr lang="en-US" sz="2400" dirty="0"/>
              <a:t>(</a:t>
            </a:r>
            <a:r>
              <a:rPr lang="en-US" sz="2400" dirty="0" err="1"/>
              <a:t>ledPin</a:t>
            </a:r>
            <a:r>
              <a:rPr lang="en-US" sz="2400" dirty="0"/>
              <a:t>, HIGH);   // sets the LED on</a:t>
            </a:r>
          </a:p>
          <a:p>
            <a:r>
              <a:rPr lang="en-US" sz="2400" dirty="0"/>
              <a:t>  delay(1000);                  </a:t>
            </a:r>
            <a:r>
              <a:rPr lang="en-US" sz="2400" dirty="0" smtClean="0"/>
              <a:t>          // </a:t>
            </a:r>
            <a:r>
              <a:rPr lang="en-US" sz="2400" dirty="0"/>
              <a:t>waits for a second</a:t>
            </a:r>
          </a:p>
          <a:p>
            <a:r>
              <a:rPr lang="en-US" sz="2400" dirty="0"/>
              <a:t>  </a:t>
            </a:r>
            <a:r>
              <a:rPr lang="en-US" sz="2400" dirty="0" err="1"/>
              <a:t>digitalWrite</a:t>
            </a:r>
            <a:r>
              <a:rPr lang="en-US" sz="2400" dirty="0"/>
              <a:t>(</a:t>
            </a:r>
            <a:r>
              <a:rPr lang="en-US" sz="2400" dirty="0" err="1"/>
              <a:t>ledPin</a:t>
            </a:r>
            <a:r>
              <a:rPr lang="en-US" sz="2400" dirty="0"/>
              <a:t>, LOW);   </a:t>
            </a:r>
            <a:r>
              <a:rPr lang="en-US" sz="2400" dirty="0" smtClean="0"/>
              <a:t>// </a:t>
            </a:r>
            <a:r>
              <a:rPr lang="en-US" sz="2400" dirty="0"/>
              <a:t>sets the LED off</a:t>
            </a:r>
          </a:p>
          <a:p>
            <a:r>
              <a:rPr lang="en-US" sz="2400" dirty="0"/>
              <a:t>  delay(1000);                  </a:t>
            </a:r>
            <a:r>
              <a:rPr lang="en-US" sz="2400" dirty="0" smtClean="0"/>
              <a:t>         // </a:t>
            </a:r>
            <a:r>
              <a:rPr lang="en-US" sz="2400" dirty="0"/>
              <a:t>waits for a second</a:t>
            </a:r>
          </a:p>
          <a:p>
            <a:r>
              <a:rPr lang="en-US" sz="2400" dirty="0"/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52800" y="206514"/>
            <a:ext cx="2057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u="sng" dirty="0" smtClean="0"/>
              <a:t>Arduino</a:t>
            </a:r>
            <a:endParaRPr lang="en-US" sz="4000" u="sng" dirty="0"/>
          </a:p>
        </p:txBody>
      </p:sp>
    </p:spTree>
    <p:extLst>
      <p:ext uri="{BB962C8B-B14F-4D97-AF65-F5344CB8AC3E}">
        <p14:creationId xmlns:p14="http://schemas.microsoft.com/office/powerpoint/2010/main" val="1182936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-304800"/>
            <a:ext cx="4953673" cy="7543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319213" y="228600"/>
            <a:ext cx="8229600" cy="1143000"/>
          </a:xfrm>
        </p:spPr>
        <p:txBody>
          <a:bodyPr/>
          <a:lstStyle/>
          <a:p>
            <a:r>
              <a:rPr lang="en-US" dirty="0" smtClean="0"/>
              <a:t>Hardware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71600"/>
            <a:ext cx="8229600" cy="4525963"/>
          </a:xfrm>
        </p:spPr>
        <p:txBody>
          <a:bodyPr>
            <a:normAutofit/>
          </a:bodyPr>
          <a:lstStyle/>
          <a:p>
            <a:r>
              <a:rPr lang="en-US" sz="2000" dirty="0" smtClean="0"/>
              <a:t>Microcontroller (Atmel ATmega328)</a:t>
            </a:r>
          </a:p>
          <a:p>
            <a:r>
              <a:rPr lang="en-US" sz="2000" dirty="0" smtClean="0"/>
              <a:t>Digital input and output pins (14)</a:t>
            </a:r>
          </a:p>
          <a:p>
            <a:r>
              <a:rPr lang="en-US" sz="2000" dirty="0" smtClean="0"/>
              <a:t>Analog input pins (8)</a:t>
            </a:r>
          </a:p>
          <a:p>
            <a:r>
              <a:rPr lang="en-US" sz="2000" dirty="0" smtClean="0"/>
              <a:t>PWM (6)</a:t>
            </a:r>
          </a:p>
          <a:p>
            <a:r>
              <a:rPr lang="en-US" sz="2000" dirty="0" smtClean="0"/>
              <a:t>Flash Memory (32 KB)</a:t>
            </a:r>
          </a:p>
          <a:p>
            <a:r>
              <a:rPr lang="en-US" sz="2000" dirty="0" smtClean="0"/>
              <a:t>Clock Speed (16 MHz)</a:t>
            </a:r>
          </a:p>
          <a:p>
            <a:r>
              <a:rPr lang="en-US" sz="2000" dirty="0" smtClean="0"/>
              <a:t>USB connectivity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2286000"/>
            <a:ext cx="2362200" cy="7199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4248150"/>
            <a:ext cx="3886200" cy="2381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66160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0262" y="3048000"/>
            <a:ext cx="3393738" cy="38240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76200"/>
            <a:ext cx="8229600" cy="1143000"/>
          </a:xfrm>
        </p:spPr>
        <p:txBody>
          <a:bodyPr/>
          <a:lstStyle/>
          <a:p>
            <a:r>
              <a:rPr lang="en-US" dirty="0" smtClean="0"/>
              <a:t>Lab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914400"/>
            <a:ext cx="8229600" cy="4525963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sz="2000" dirty="0" smtClean="0"/>
              <a:t>Load Blink program (see screenshot below)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2.  Experiment with Serial communication using the code below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err="1" smtClean="0"/>
              <a:t>Serial.begin</a:t>
            </a:r>
            <a:r>
              <a:rPr lang="en-US" sz="2000" dirty="0" smtClean="0"/>
              <a:t>(9600</a:t>
            </a:r>
            <a:r>
              <a:rPr lang="en-US" sz="2000" dirty="0"/>
              <a:t>); </a:t>
            </a:r>
            <a:r>
              <a:rPr lang="en-US" sz="2000" dirty="0" smtClean="0"/>
              <a:t>    //this line </a:t>
            </a:r>
            <a:r>
              <a:rPr lang="en-US" sz="2000" u="sng" dirty="0" smtClean="0"/>
              <a:t>goes in setup function</a:t>
            </a:r>
            <a:r>
              <a:rPr lang="en-US" sz="2000" dirty="0" smtClean="0"/>
              <a:t>, and configures serial</a:t>
            </a:r>
          </a:p>
          <a:p>
            <a:pPr marL="0" indent="0">
              <a:buNone/>
            </a:pPr>
            <a:r>
              <a:rPr lang="en-US" sz="2000" dirty="0" err="1" smtClean="0"/>
              <a:t>Serial.print</a:t>
            </a:r>
            <a:r>
              <a:rPr lang="en-US" sz="2000" dirty="0" smtClean="0"/>
              <a:t>(“Hello World");      // sends text to the </a:t>
            </a:r>
            <a:r>
              <a:rPr lang="en-US" sz="2000" u="sng" dirty="0" smtClean="0"/>
              <a:t>serial monitor</a:t>
            </a:r>
          </a:p>
          <a:p>
            <a:pPr marL="0" indent="0">
              <a:buNone/>
            </a:pPr>
            <a:r>
              <a:rPr lang="en-US" sz="2000" dirty="0" err="1" smtClean="0"/>
              <a:t>Serial.println</a:t>
            </a:r>
            <a:r>
              <a:rPr lang="en-US" sz="2000" dirty="0" smtClean="0"/>
              <a:t>(“Hello World”);      // </a:t>
            </a:r>
            <a:r>
              <a:rPr lang="en-US" sz="2000" dirty="0"/>
              <a:t>prints as </a:t>
            </a:r>
            <a:r>
              <a:rPr lang="en-US" sz="2000" dirty="0" smtClean="0"/>
              <a:t>a new line</a:t>
            </a:r>
          </a:p>
          <a:p>
            <a:pPr marL="0" indent="0">
              <a:buNone/>
            </a:pPr>
            <a:endParaRPr lang="en-US" sz="2000" dirty="0"/>
          </a:p>
          <a:p>
            <a:pPr marL="457200" indent="-457200">
              <a:buAutoNum type="arabicPeriod" startAt="3"/>
            </a:pPr>
            <a:r>
              <a:rPr lang="en-US" sz="2000" dirty="0" smtClean="0"/>
              <a:t>Turn your Arduino into a 4 function calculator</a:t>
            </a:r>
          </a:p>
          <a:p>
            <a:pPr marL="0" indent="0">
              <a:buNone/>
            </a:pPr>
            <a:endParaRPr lang="en-US" sz="2000" dirty="0" smtClean="0"/>
          </a:p>
          <a:p>
            <a:pPr marL="457200" indent="-457200">
              <a:buAutoNum type="arabicPeriod" startAt="3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58614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214</Words>
  <Application>Microsoft Office PowerPoint</Application>
  <PresentationFormat>On-screen Show (4:3)</PresentationFormat>
  <Paragraphs>50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Intro to Arduino</vt:lpstr>
      <vt:lpstr>What is a Microcontroller?</vt:lpstr>
      <vt:lpstr>Software</vt:lpstr>
      <vt:lpstr>PowerPoint Presentation</vt:lpstr>
      <vt:lpstr>PowerPoint Presentation</vt:lpstr>
      <vt:lpstr>PowerPoint Presentation</vt:lpstr>
      <vt:lpstr>Hardware</vt:lpstr>
      <vt:lpstr>Lab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Marc</dc:creator>
  <cp:lastModifiedBy>Marc</cp:lastModifiedBy>
  <cp:revision>11</cp:revision>
  <dcterms:created xsi:type="dcterms:W3CDTF">2006-08-16T00:00:00Z</dcterms:created>
  <dcterms:modified xsi:type="dcterms:W3CDTF">2011-02-14T21:31:19Z</dcterms:modified>
</cp:coreProperties>
</file>